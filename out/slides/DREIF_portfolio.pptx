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Кейс 3 · Моделирование полёта и расчёт траекторий для космических миссий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9464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3726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ru-RU" spc="-34">
                <a:solidFill>
                  <a:srgbClr val="14171C"/>
                </a:solidFill>
                <a:latin typeface="Arial"/>
              </a:rPr>
              <a:t>ДРЕЙФ — планировщик миссий</a:t>
            </a:r>
            <a:br/>
            <a:r>
              <a:rPr sz="3450" b="1" lang="ru-RU" spc="-34">
                <a:solidFill>
                  <a:srgbClr val="14171C"/>
                </a:solidFill>
                <a:latin typeface="Arial"/>
              </a:rPr>
              <a:t>электрического буксира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841754"/>
            <a:ext cx="10286743" cy="57835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277"/>
              </a:lnSpc>
              <a:spcBef>
                <a:spcPts val="0"/>
              </a:spcBef>
              <a:spcAft>
                <a:spcPts val="0"/>
              </a:spcAft>
            </a:pPr>
            <a:r>
              <a:rPr sz="1650" b="0" lang="ru-RU" spc="0">
                <a:solidFill>
                  <a:srgbClr val="5B6370"/>
                </a:solidFill>
                <a:latin typeface="Arial"/>
              </a:rPr>
              <a:t>Отвечаем клиенту буксира «СКАУТ» компании А-РОКЕТС: выполнима ли доставка его спутника на нужную орбиту, за сколько суток, сколько ксенона и насколько мы в этом уверены.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783" y="2553462"/>
            <a:ext cx="5352916" cy="1834896"/>
          </a:xfrm>
          <a:prstGeom prst="roundRect">
            <a:avLst>
              <a:gd name="adj" fmla="val 5191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29" y="2677287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Андрей Углов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руководитель, инженерия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29" y="2949702"/>
            <a:ext cx="5010025" cy="131483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Автор FRS — системы контроля доступа по лицу. С ней: победитель Весенней научной сессии СНО НИЯУ МИФИ 2026, призёр XI конференции «Инженеры будущего», почётный диплом конкурса «Учёные будущего» (секция «Программирование»), тезисы в сборнике МИФИ (РИНЦ). Призёр Московской предпрофессиональной олимпиады (информационные технологии) и открытого конкурса Яндекс Лицея, 2-е место команды на ЛШАД ФКН ВШЭ (трек МТС, продвинутая группа).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2996" y="2553462"/>
            <a:ext cx="5352916" cy="1834896"/>
          </a:xfrm>
          <a:prstGeom prst="roundRect">
            <a:avLst>
              <a:gd name="adj" fmla="val 5191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4442" y="2677287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Андрей Полевой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физика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4442" y="2949702"/>
            <a:ext cx="5010025" cy="112699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Призёр заключительного этапа ВсОШ по информатике (профиль «Искусственный интеллект»). Физика: дважды участник заключительного этапа ВсОШ, дипломы I степени ИОФ и II степени «Физтеха». Математика: победитель Турнира городов, дипломы II степени «Физтеха» и III степени Московской математической олимпиады. Призёр регионального этапа ВсОШ по астрономии.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783" y="4502658"/>
            <a:ext cx="5352916" cy="1459230"/>
          </a:xfrm>
          <a:prstGeom prst="roundRect">
            <a:avLst>
              <a:gd name="adj" fmla="val 6527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229" y="4626483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Лев Шиянов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данные и 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229" y="4898898"/>
            <a:ext cx="5010025" cy="9391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Победитель олимпиады ВШЭ «Высшая проба» по промышленной разработке (бэкенд) и Московской предпрофессиональной олимпиады (инженерия). Финалист ДАНО (анализ данных) и бизнес-чемпионата «Ключ» («Высшая проба»). 2-е место команды на ЛШАД ФКН ВШЭ (трек МТС, продвинутая группа). Полгода ML-разработчиком в компании.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2996" y="4502658"/>
            <a:ext cx="5352916" cy="1459230"/>
          </a:xfrm>
          <a:prstGeom prst="roundRect">
            <a:avLst>
              <a:gd name="adj" fmla="val 6527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442" y="4626483"/>
            <a:ext cx="5010025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Антон Винидиктов </a:t>
            </a:r>
            <a:r>
              <a:rPr sz="1350" b="0" lang="ru-RU" spc="0">
                <a:solidFill>
                  <a:srgbClr val="5B6370"/>
                </a:solidFill>
                <a:latin typeface="Arial"/>
              </a:rPr>
              <a:t>· экономика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442" y="4898898"/>
            <a:ext cx="5010025" cy="7513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7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lang="ru-RU" spc="0">
                <a:solidFill>
                  <a:srgbClr val="14171C"/>
                </a:solidFill>
                <a:latin typeface="Arial"/>
              </a:rPr>
              <a:t>1-е место на хакатоне ВШЭ и МТС. Ведёт несколько коммерческих проектов, ментор Сколково на образовательных программах по цифровизации и ИИ. Участник заключительного этапа олимпиады «Физтех» по математике и физике.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783" y="6530340"/>
            <a:ext cx="9290568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Космический идеатон БРИКС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945" y="6530340"/>
            <a:ext cx="1300967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Команда DevCore · 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Задача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С тягой 55 мН срочность оплачивается ксеноном:</a:t>
            </a:r>
            <a:br/>
            <a:r>
              <a:rPr sz="2400" b="1" lang="ru-RU" spc="-24">
                <a:solidFill>
                  <a:srgbClr val="14171C"/>
                </a:solidFill>
                <a:latin typeface="Arial"/>
              </a:rPr>
              <a:t>90 суток вместо 180 требуют его в 2,4 раза больше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628394"/>
            <a:ext cx="5391015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Буксир «СКАУТ»: тяга 55 мН, удельный импульс 1500 с, суммарный импульс 380 кН·с, то есть около 26 кг ксенона на всю жизнь. Клиент спрашивает одно: </a:t>
            </a:r>
            <a:r>
              <a:rPr sz="1350" b="1" lang="ru-RU" spc="0">
                <a:solidFill>
                  <a:srgbClr val="14171C"/>
                </a:solidFill>
                <a:latin typeface="Arial"/>
              </a:rPr>
              <a:t>когда мой спутник будет на рабочей орбите и сколько это стоит.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83" y="2716530"/>
            <a:ext cx="5391015" cy="121729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Дороже всего сдвинуть плоскость орбиты. Двигателем это быстро, но на 15° не хватит всего запаса. Можно дать Земле повернуть плоскость самой: из-за сплюснутости у полюсов (эффект J2) плоскость дрейфует, и скорость дрейфа зависит от высоты. Это почти бесплатно, но долго.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783" y="4048125"/>
            <a:ext cx="5391015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Постановка:</a:t>
            </a:r>
            <a:r>
              <a:rPr sz="1350" b="0" lang="ru-RU" spc="0">
                <a:solidFill>
                  <a:srgbClr val="14171C"/>
                </a:solidFill>
                <a:latin typeface="Arial"/>
              </a:rPr>
              <a:t> по заявке (массы, орбита попутного запуска, целевые орбиты, срок) ответить, выполнима ли она, какой стратегией, за сколько суток и ксенона, с погрешностью, проверенной на реальных спутниках.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62541" y="1628394"/>
            <a:ext cx="5143371" cy="41929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5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lang="ru-RU" spc="0">
                <a:solidFill>
                  <a:srgbClr val="14171C"/>
                </a:solidFill>
                <a:latin typeface="Arial"/>
              </a:rPr>
              <a:t>Цена срочности: сдвиг плоскости на −15° с солнечно-синхронной орбиты 550 км</a:t>
            </a:r>
          </a:p>
        </p:txBody>
      </p:sp>
      <p:pic>
        <p:nvPicPr>
          <p:cNvPr id="8" name="Picture 7" descr="price_of_u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541" y="2104870"/>
            <a:ext cx="4952876" cy="28574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62541" y="4962334"/>
            <a:ext cx="5143371" cy="12151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Наш расчёт: буксир 150 кг + груз 50 кг, 25,8 кг ксенона, тяга только на свету (62 % витка, тень на каждом витке), атмосфера учтена. На 30 и 60 суток среди рассмотренных стратегий решения нет. Прямое численное моделирование тех же планов даёт ксенон в пределах 6 %. Оно же показало, что на орбите «рассвет — закат», где тени нет, 60 суток хватает: −16,2° за 18,9 кг, а с тенью предел 11,2°. Обогнать плоскость с 500 км дороже, чем отстать: +15° за 180 суток стоит 10,3 кг против 2,8 кг.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Данные буксира: a-rockets.com · расчёт: work/calc/strategy_map.py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Идея и принцип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Перебор стратегий, сверка и проверка на реальных спутниках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783" y="1280922"/>
            <a:ext cx="3219369" cy="1415872"/>
          </a:xfrm>
          <a:prstGeom prst="roundRect">
            <a:avLst>
              <a:gd name="adj" fmla="val 6727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8654" y="1404747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8654" y="1585722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Перебор стратегий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54" y="1837182"/>
            <a:ext cx="2933627" cy="551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Прямой поворот, дрейф выше или ниже цели, их сочетание, порядок развоза. Тень, расход массы, атмосфера.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38499" y="1280922"/>
            <a:ext cx="3219369" cy="1415872"/>
          </a:xfrm>
          <a:prstGeom prst="roundRect">
            <a:avLst>
              <a:gd name="adj" fmla="val 6727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1370" y="1404747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1370" y="1585722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Независимая сверка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1370" y="1837182"/>
            <a:ext cx="2933627" cy="7357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Лучшие варианты пересчитываются прямым численным интегрированием. Для подъёма 550 → 1000 км расхождение с формулой меньше 1 %.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783" y="2830144"/>
            <a:ext cx="3219369" cy="1783766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4287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654" y="2953969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54" y="3134944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Проверка на реальных спутниках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654" y="3386404"/>
            <a:ext cx="2933627" cy="110368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OneWeb с двух запусков индийской LVM3 сами разводят плоскости дрейфом J2. По известной истории высоты и наклонения модель восстановила уход плоскости за 9–14 месяцев у всех 72 спутников с ошибкой меньше 0,3°.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38499" y="2830144"/>
            <a:ext cx="3219369" cy="1783766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81370" y="2953969"/>
            <a:ext cx="2933627" cy="14287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937" b="1" lang="ru-RU" spc="75">
                <a:solidFill>
                  <a:srgbClr val="C4501B"/>
                </a:solidFill>
                <a:latin typeface="Arial"/>
              </a:rPr>
              <a:t>ШАГ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1370" y="3134944"/>
            <a:ext cx="2933627" cy="19431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3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lang="ru-RU" spc="0">
                <a:solidFill>
                  <a:srgbClr val="14171C"/>
                </a:solidFill>
                <a:latin typeface="Arial"/>
              </a:rPr>
              <a:t>Ускоритель с отказом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1370" y="3386404"/>
            <a:ext cx="2933627" cy="73578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64" b="0" lang="ru-RU" spc="0">
                <a:solidFill>
                  <a:srgbClr val="14171C"/>
                </a:solidFill>
                <a:latin typeface="Arial"/>
              </a:rPr>
              <a:t>Нейросеть на точных расчётах отвечает мгновенно, вне области обучения отказывается. Метрика — доля ошибочных «выполнимо».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783" y="4728210"/>
            <a:ext cx="3219369" cy="1403985"/>
          </a:xfrm>
          <a:prstGeom prst="roundRect">
            <a:avLst>
              <a:gd name="adj" fmla="val 6784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278" y="4880610"/>
            <a:ext cx="283837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На чём стоим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278" y="5153025"/>
            <a:ext cx="2838379" cy="826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Метод дрейфовых орбит для нескольких клиентов уже опубликован (Apa и др., март 2026), коммерческий аналог — ExoOPS. Новизну метода не заявляем.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38499" y="4728210"/>
            <a:ext cx="3219369" cy="1403985"/>
          </a:xfrm>
          <a:prstGeom prst="roundRect">
            <a:avLst>
              <a:gd name="adj" fmla="val 6784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28994" y="4880610"/>
            <a:ext cx="283837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Наш вклад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8994" y="5153025"/>
            <a:ext cx="2838379" cy="8267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Открытый расчёт под конкретный «СКАУТ», погрешность модели дрейфа, измеренная на реальных спутниках, и честное «не найдено решения».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5512" y="1280922"/>
            <a:ext cx="4000400" cy="40576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597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0">
                <a:solidFill>
                  <a:srgbClr val="14171C"/>
                </a:solidFill>
                <a:latin typeface="Arial"/>
              </a:rPr>
              <a:t>Разнос плоскостей OneWeb внутри запуска: модель против факта</a:t>
            </a:r>
          </a:p>
        </p:txBody>
      </p:sp>
      <p:pic>
        <p:nvPicPr>
          <p:cNvPr id="27" name="Picture 26" descr="oneweb_model_vs_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512" y="1724827"/>
            <a:ext cx="4000400" cy="314317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05512" y="4868037"/>
            <a:ext cx="4000400" cy="12151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Каждая точка — спутник, все 72, две ступени ракеты исключены. Узел после старта модель не видит, но историю высоты и наклонения знает, поэтому это проверка эффекта, а не прогноз миссии. Медиана ошибки 0,14–0,19°, максимум 0,29° при уходе плоскости 64–123°. Подъём 450 → 1190 км у 26 спутников второго запуска занял медиану 188 суток против 68–84 суток чистого подъёма по модели.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Данные: история TLE Space-Track (huggingface.co/datasets/juliensimon/space-track-tle-history, CC BY 4.0)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Результат на защите и план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6949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8 ноября: работающий планировщик и отчёт о его точности на реальных спутниках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783" y="1628394"/>
            <a:ext cx="3799237" cy="9738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Живая демонстрация.</a:t>
            </a:r>
            <a:r>
              <a:rPr sz="1350" b="0" lang="ru-RU" spc="0">
                <a:solidFill>
                  <a:srgbClr val="14171C"/>
                </a:solidFill>
                <a:latin typeface="Arial"/>
              </a:rPr>
              <a:t> Заявка «два спутника с одного попутного запуска — в разные плоскости, срок 120 суток», и как меняется ответ, если срок сократить до 60.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783" y="2697480"/>
            <a:ext cx="3799237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916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Метрики, которые покажем: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78" y="2998089"/>
            <a:ext cx="3608742" cy="4869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расхождение с численным расчётом, % по суткам и ксенону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278" y="3485007"/>
            <a:ext cx="3608742" cy="48691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ошибка дрейфа плоскости на реальных OneWeb, градусы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78" y="3971925"/>
            <a:ext cx="3608742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ошибка сроков подъёма орбиты, сутки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78" y="4215384"/>
            <a:ext cx="3608742" cy="24345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-133347">
              <a:lnSpc>
                <a:spcPts val="1916"/>
              </a:lnSpc>
              <a:spcBef>
                <a:spcPts val="0"/>
              </a:spcBef>
              <a:spcAft>
                <a:spcPts val="0"/>
              </a:spcAft>
              <a:buChar char="•"/>
            </a:pPr>
            <a:r>
              <a:rPr sz="1350" b="0" lang="ru-RU" spc="0">
                <a:solidFill>
                  <a:srgbClr val="14171C"/>
                </a:solidFill>
                <a:latin typeface="Arial"/>
              </a:rPr>
              <a:t>доля ошибочных «выполнимо» у ускорителя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751713" y="1628394"/>
          <a:ext cx="6754200" cy="440817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1817"/>
                <a:gridCol w="2566596"/>
                <a:gridCol w="1181985"/>
                <a:gridCol w="2093802"/>
              </a:tblGrid>
              <a:tr h="33147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Что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Кто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5" b="1" lang="ru-RU" spc="58" cap="all">
                          <a:solidFill>
                            <a:srgbClr val="5B6370"/>
                          </a:solidFill>
                          <a:latin typeface="Arial"/>
                        </a:rPr>
                        <a:t>Готово, если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26–28.10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Ядро: стратегии, знак дрейфа, тень, атмосфера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Андрей У., Андрей П.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уход вверх на 300 км даёт отставание плоскости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29.10–1.11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Численная сверка 20+ сценариев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Андрей П.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расхождение посчитано по каждому сценарию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29.10–1.11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История орбит OneWeb и Starlink: сроки подъёма и дрейф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Лев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ошибка в сутках и градусах на каждом спутнике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29.10–6.11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Цена срочности: прайс для трёх эталонных заявок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Антон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на слайде цены, а не «большой рынок»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2–3, 5–6.11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Интенсив: масса и режимы «СКАУТ» у менторов, сценарий БРИКС, интерфейс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все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параметры буксира обновлены в расчёте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485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4–6.11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Ускоритель, только если ядро готово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Лев, Андрей У.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ошибочных «выполнимо» меньше, чем у интерполяции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7–8.11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Репетиция, доработка с менторами, защита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все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t" lIns="0" rIns="0" tIns="0" bIns="0">
                      <a:noAutofit/>
                    </a:bodyPr>
                    <a:lstStyle/>
                    <a:p>
                      <a:pPr>
                        <a:lnSpc>
                          <a:spcPts val="13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lang="ru-RU" spc="0">
                          <a:solidFill>
                            <a:srgbClr val="14171C"/>
                          </a:solidFill>
                          <a:latin typeface="Arial"/>
                        </a:rPr>
                        <a:t>укладываемся в 3:00</a:t>
                      </a:r>
                    </a:p>
                  </a:txBody>
                  <a:tcPr marT="66675" marB="66675" marL="85723" marR="85723" anchor="t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3e5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5783" y="6188964"/>
            <a:ext cx="10820129" cy="173593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12" b="0" lang="ru-RU" spc="0">
                <a:solidFill>
                  <a:srgbClr val="5B6370"/>
                </a:solidFill>
                <a:latin typeface="Arial"/>
              </a:rPr>
              <a:t>Минимальный результат при любом сбое — ядро и численная сверка на трёх эталонных миссиях. Это уже инженерный расчёт и модель по п. 9.4 Положения.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ДРЕЙФ · кейс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783" y="495300"/>
            <a:ext cx="10820129" cy="17145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lang="ru-RU" spc="158" cap="all">
                <a:solidFill>
                  <a:srgbClr val="C4501B"/>
                </a:solidFill>
                <a:latin typeface="Arial"/>
              </a:rPr>
              <a:t>Применение в странах БРИКС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783" y="762000"/>
            <a:ext cx="10820129" cy="34747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2736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 spc="-24">
                <a:solidFill>
                  <a:srgbClr val="14171C"/>
                </a:solidFill>
                <a:latin typeface="Arial"/>
              </a:rPr>
              <a:t>Один попутный запуск — свою орбиту получает каждая страна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783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6278" y="1433322"/>
            <a:ext cx="3111422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Реальный случай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78" y="1705737"/>
            <a:ext cx="3111422" cy="16535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5 ноября 2024 года «Союз-2.1б» с Восточного вывел 53 малых аппарата, среди них иранские Kowsar и Hodhod на высоте около 500 км. Иран в БРИКС с 2024 года. Попутные спутники оказываются там, куда летит основной груз. Буксир доводит каждый до своей орбиты, ДРЕЙФ считает, выполнимо ли это и за сколько.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9641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0136" y="1433322"/>
            <a:ext cx="3111422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Повестка Индии, председателя БРИКС-2026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0136" y="1911477"/>
            <a:ext cx="3111422" cy="14468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ISRO ставит цель к 2030 году: миссии без мусора, увод после работы с успехом больше 99 % (Debris Free Space Missions). В июне 2026 года главы космических агентств БРИКС в Бенгалуру обсуждали «debris-free mission management». «СКАУТ» продаётся и для увода, ДРЕЙФ считает и эту миссию.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3500" y="1280922"/>
            <a:ext cx="3492413" cy="2230755"/>
          </a:xfrm>
          <a:prstGeom prst="roundRect">
            <a:avLst>
              <a:gd name="adj" fmla="val 4269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3995" y="1433322"/>
            <a:ext cx="3111422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Общая научная задача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3995" y="1705737"/>
            <a:ext cx="3111422" cy="14468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Инженеры ISRO, разрабатывающие управление для полностью электрической миссии, пишут, что для низких орбит учёт узла «is also crucial», и оставляют его на будущую работу. Это ровно наша задача. И OneWeb, на которых мы проверяем модель, выводила индийская ракета LVM3.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783" y="3683127"/>
            <a:ext cx="10820129" cy="1197293"/>
          </a:xfrm>
          <a:prstGeom prst="roundRect">
            <a:avLst>
              <a:gd name="adj" fmla="val 7955"/>
            </a:avLst>
          </a:prstGeom>
          <a:solidFill>
            <a:srgbClr val="F6F4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6278" y="3835527"/>
            <a:ext cx="1043913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Попутный запуск внутри БРИКС уже продаётся. Довести аппарат до его орбиты — работа буксира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278" y="4107942"/>
            <a:ext cx="10439139" cy="62007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Индия, NSIL: «either dedicated launch or rideshare launch» на PSLV, SSLV и LVM3. Китай, CAS Space: «International Ridesharing Program». А ОАЭ свой кубсат PHI-1 (до 20 кг, около 500 км) 11.11.2025 запускали на американском Falcon 9. Аппарат такого класса помещается в 50 кг груза одного «СКАУТ».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783" y="5013770"/>
            <a:ext cx="10820129" cy="99060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4287">
            <a:solidFill>
              <a:srgbClr val="E3E5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278" y="5166170"/>
            <a:ext cx="10439139" cy="2057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lang="ru-RU" spc="0">
                <a:solidFill>
                  <a:srgbClr val="14171C"/>
                </a:solidFill>
                <a:latin typeface="Arial"/>
              </a:rPr>
              <a:t>Формы кооперации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78" y="5438584"/>
            <a:ext cx="10439139" cy="413385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627"/>
              </a:lnSpc>
              <a:spcBef>
                <a:spcPts val="0"/>
              </a:spcBef>
              <a:spcAft>
                <a:spcPts val="0"/>
              </a:spcAft>
            </a:pPr>
            <a:r>
              <a:rPr sz="1162" b="0" lang="ru-RU" spc="0">
                <a:solidFill>
                  <a:srgbClr val="14171C"/>
                </a:solidFill>
                <a:latin typeface="Arial"/>
              </a:rPr>
              <a:t>Открытая модель, которую операторы стран БРИКС перепроверяют сами. Совместный расчёт развоза по заявкам нескольких стран с одного запуска. Совместная проверка на данных своих спутников. Развитие в стажировке А-РОКЕТС к испытаниям буксира, намеченным к 2028 году.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783" y="6454140"/>
            <a:ext cx="10820129" cy="4762"/>
          </a:xfrm>
          <a:prstGeom prst="rect">
            <a:avLst/>
          </a:prstGeom>
          <a:solidFill>
            <a:srgbClr val="E3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783" y="6530340"/>
            <a:ext cx="10340561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interfax.ru/russia/1037987 · isro.gov.in/Debris_Free_Space_Missions.html · newsonair.gov.in, 24.06.2026 · arxiv.org/abs/2511.23014 · nsilindia.co.in · en.cas-space.com · mbrsc.ae · a-rockets.com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54938" y="6530340"/>
            <a:ext cx="250974" cy="137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ts val="1080"/>
              </a:lnSpc>
              <a:spcBef>
                <a:spcPts val="0"/>
              </a:spcBef>
              <a:spcAft>
                <a:spcPts val="0"/>
              </a:spcAft>
            </a:pPr>
            <a:r>
              <a:rPr sz="900" b="0" lang="ru-RU" spc="0">
                <a:solidFill>
                  <a:srgbClr val="5B6370"/>
                </a:solidFill>
                <a:latin typeface="Arial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TotalTime>1</TotalTime>
  <Words>0</Words>
  <Application/>
  <PresentationFormat>16:9</PresentationFormat>
  <Paragraphs>0</Paragraphs>
  <Slides>5</Slides>
  <Notes>0</Notes>
  <HiddenSlides>0</HiddenSlides>
  <MMClips>0</MMClips>
  <ScaleCrop>false</ScaleCrop>
  <Manager/>
  <Company>DevCore</Company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ДРЕЙФ</dc:title>
  <dc:subject/>
  <dc:creator>DevCore</dc:creator>
  <cp:keywords/>
  <dc:description/>
  <cp:lastModifiedBy>DevCore</cp:lastModifiedBy>
  <cp:revision>1</cp:revision>
  <dcterms:created xsi:type="dcterms:W3CDTF">2026-10-25T17:45:12Z</dcterms:created>
  <dcterms:modified xsi:type="dcterms:W3CDTF">2026-10-25T17:45:12Z</dcterms:modified>
  <cp:category/>
</cp:coreProperties>
</file>